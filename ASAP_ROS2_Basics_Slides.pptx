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1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1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7212B"/>
                </a:solidFill>
                <a:latin typeface="Arial"/>
              </a:rPr>
              <a:t>Simulated temperature after target_temperature 40.0 (1 reading/s)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 (°C)</c:v>
                </c:pt>
              </c:strCache>
            </c:strRef>
          </c:tx>
          <c:spPr>
            <a:solidFill>
              <a:srgbClr val="F28C28"/>
            </a:solidFill>
            <a:ln w="38100" cap="flat">
              <a:solidFill>
                <a:srgbClr val="F28C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C28"/>
              </a:solidFill>
              <a:ln w="9525" cap="flat">
                <a:solidFill>
                  <a:srgbClr val="F28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27.1</c:v>
                </c:pt>
                <c:pt idx="1">
                  <c:v>26.9</c:v>
                </c:pt>
                <c:pt idx="2">
                  <c:v>27</c:v>
                </c:pt>
                <c:pt idx="3">
                  <c:v>26.9</c:v>
                </c:pt>
                <c:pt idx="4">
                  <c:v>27</c:v>
                </c:pt>
                <c:pt idx="5">
                  <c:v>26.9</c:v>
                </c:pt>
                <c:pt idx="6">
                  <c:v>27.1</c:v>
                </c:pt>
                <c:pt idx="7">
                  <c:v>27.6</c:v>
                </c:pt>
                <c:pt idx="8">
                  <c:v>28</c:v>
                </c:pt>
                <c:pt idx="9">
                  <c:v>28.6</c:v>
                </c:pt>
                <c:pt idx="10">
                  <c:v>29.2</c:v>
                </c:pt>
                <c:pt idx="11">
                  <c:v>29.8</c:v>
                </c:pt>
                <c:pt idx="12">
                  <c:v>30.4</c:v>
                </c:pt>
                <c:pt idx="13">
                  <c:v>30.9</c:v>
                </c:pt>
                <c:pt idx="14">
                  <c:v>31.3</c:v>
                </c:pt>
                <c:pt idx="15">
                  <c:v>31.9</c:v>
                </c:pt>
                <c:pt idx="16">
                  <c:v>32.3</c:v>
                </c:pt>
                <c:pt idx="17">
                  <c:v>32.7</c:v>
                </c:pt>
                <c:pt idx="18">
                  <c:v>33.1</c:v>
                </c:pt>
                <c:pt idx="19">
                  <c:v>33.6</c:v>
                </c:pt>
                <c:pt idx="20">
                  <c:v>33.9</c:v>
                </c:pt>
                <c:pt idx="21">
                  <c:v>34.6</c:v>
                </c:pt>
                <c:pt idx="22">
                  <c:v>35.2</c:v>
                </c:pt>
                <c:pt idx="23">
                  <c:v>35.5</c:v>
                </c:pt>
                <c:pt idx="24">
                  <c:v>35.9</c:v>
                </c:pt>
                <c:pt idx="25">
                  <c:v>36.5</c:v>
                </c:pt>
                <c:pt idx="26">
                  <c:v>36.9</c:v>
                </c:pt>
                <c:pt idx="27">
                  <c:v>37.4</c:v>
                </c:pt>
                <c:pt idx="28">
                  <c:v>37.8</c:v>
                </c:pt>
                <c:pt idx="29">
                  <c:v>38.3</c:v>
                </c:pt>
                <c:pt idx="30">
                  <c:v>39.1</c:v>
                </c:pt>
                <c:pt idx="31">
                  <c:v>39.6</c:v>
                </c:pt>
                <c:pt idx="32">
                  <c:v>40.1</c:v>
                </c:pt>
                <c:pt idx="33">
                  <c:v>40.1</c:v>
                </c:pt>
                <c:pt idx="34">
                  <c:v>40</c:v>
                </c:pt>
                <c:pt idx="35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max_temp</c:v>
                </c:pt>
              </c:strCache>
            </c:strRef>
          </c:tx>
          <c:spPr>
            <a:solidFill>
              <a:srgbClr val="D64545"/>
            </a:solidFill>
            <a:ln w="38100" cap="flat">
              <a:solidFill>
                <a:srgbClr val="D64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45"/>
              </a:solidFill>
              <a:ln w="9525" cap="flat">
                <a:solidFill>
                  <a:srgbClr val="D64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</c:lvl>
              </c:multiLvlStrCache>
            </c:multiLvl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35</c:v>
                </c:pt>
                <c:pt idx="1">
                  <c:v>35</c:v>
                </c:pt>
                <c:pt idx="2">
                  <c:v>35</c:v>
                </c:pt>
                <c:pt idx="3">
                  <c:v>35</c:v>
                </c:pt>
                <c:pt idx="4">
                  <c:v>35</c:v>
                </c:pt>
                <c:pt idx="5">
                  <c:v>35</c:v>
                </c:pt>
                <c:pt idx="6">
                  <c:v>35</c:v>
                </c:pt>
                <c:pt idx="7">
                  <c:v>35</c:v>
                </c:pt>
                <c:pt idx="8">
                  <c:v>35</c:v>
                </c:pt>
                <c:pt idx="9">
                  <c:v>35</c:v>
                </c:pt>
                <c:pt idx="10">
                  <c:v>35</c:v>
                </c:pt>
                <c:pt idx="11">
                  <c:v>35</c:v>
                </c:pt>
                <c:pt idx="12">
                  <c:v>35</c:v>
                </c:pt>
                <c:pt idx="13">
                  <c:v>35</c:v>
                </c:pt>
                <c:pt idx="14">
                  <c:v>35</c:v>
                </c:pt>
                <c:pt idx="15">
                  <c:v>35</c:v>
                </c:pt>
                <c:pt idx="16">
                  <c:v>35</c:v>
                </c:pt>
                <c:pt idx="17">
                  <c:v>35</c:v>
                </c:pt>
                <c:pt idx="18">
                  <c:v>35</c:v>
                </c:pt>
                <c:pt idx="19">
                  <c:v>35</c:v>
                </c:pt>
                <c:pt idx="20">
                  <c:v>35</c:v>
                </c:pt>
                <c:pt idx="21">
                  <c:v>35</c:v>
                </c:pt>
                <c:pt idx="22">
                  <c:v>35</c:v>
                </c:pt>
                <c:pt idx="23">
                  <c:v>35</c:v>
                </c:pt>
                <c:pt idx="24">
                  <c:v>35</c:v>
                </c:pt>
                <c:pt idx="25">
                  <c:v>35</c:v>
                </c:pt>
                <c:pt idx="26">
                  <c:v>35</c:v>
                </c:pt>
                <c:pt idx="27">
                  <c:v>35</c:v>
                </c:pt>
                <c:pt idx="28">
                  <c:v>35</c:v>
                </c:pt>
                <c:pt idx="29">
                  <c:v>35</c:v>
                </c:pt>
                <c:pt idx="30">
                  <c:v>35</c:v>
                </c:pt>
                <c:pt idx="31">
                  <c:v>35</c:v>
                </c:pt>
                <c:pt idx="32">
                  <c:v>35</c:v>
                </c:pt>
                <c:pt idx="33">
                  <c:v>35</c:v>
                </c:pt>
                <c:pt idx="34">
                  <c:v>35</c:v>
                </c:pt>
                <c:pt idx="35">
                  <c:v>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A"/>
                    </a:solidFill>
                    <a:latin typeface="Arial"/>
                  </a:rPr>
                  <a:t>seconds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42"/>
          <c:min val="25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212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every student writes, builds and runs ROS 2 nodes in Python. The diagram on the right is where we end up: a sensor node, a topic, a node that checks the data, and a topic with checked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steps. Every step adds to the same workspace. Point out the two scripts at the bottom: verify.sh checks a step, catchup.sh installs the finished version of a step if someone falls behind. Rule: a step running 5 minutes over, anyone still stuck runs catchup and moves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is about to run a node called /counter on the same Wi-Fi. ROS_DOMAIN_ID keeps groups apart. Every row must say PASS; the pyserial row may say WARN on student laptops. Instructor laptop uses domain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1. Goal: ros2 node list shows /counter.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robot is not one program; it is many small programs, called nodes, that talk. A package is how code is shipped and reused. You will install someone else's package in step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camera driver and a lidar driver publish data; a planner combines them and publishes velocity commands; a motor node drives the wheels. Replace any one node without touching the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it live. Open the result in VS Code: code ~/ros2_ws. If ros2 pkg create complains that package_name is required, the name was placed after --dependencies.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entry_points in setup.py is how ros2 run finds your code. When ROS says "No executable found", look here first. Any change to setup.py needs colcon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counter.py top to bottom: class, __init__, timer, callback, main, spin. Do 1.1 together, students do 1.2-1.4. Point out: there is no while True. rclpy.spin is the loop; the timer calls your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--symlink-install means editing a .py file needs no rebuild, only a restart. setup.py, package.xml and interface files need colcon build. Package not found: source install/setup.bash in that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 answer: setup.py. With --symlink-install, .py files are linked; setup.py, package.xml and interfaces need colcon build.
Common errors: Package not found (not sourced); /change_me in node list (TODO 1.1).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 No code. Students explore turtlesim with the CLI. Done when everyone has spawned turtle2.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Nodes are the smallest unit; everything else is how they talk. Four ways, all met today at the command line on a node someone else wrote. Topics stream, services answer once, parameters are settings, actions are long jobs with progress and cancel.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first few commands yourself, then hand over to the questions on the next slide. The background colour only changes after ros2 service call /clear std_srvs/srv/Empty.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2.1 /teleop_turtle publishes on /turtle1/cmd_vel
2.2 turtlesim/msg/Pose: x, y, theta, linear_velocity, angular_velocity (float32)
2.3 starts at x 5.544, y 5.544, theta 0.0
2.4 topic pub -r 1 runs until Ctrl+C
2.5 Spawn_Response(name='turtle2'); /turtle2/... topics appear
2.6 request x, y, theta, name; response name
2.7 colour changes only after /clear: the node decides when to apply the parameter
2.8 Feedback remaining..., then Result delta..., SUCCEEDED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before showing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Topic; service; parameter;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3. Goal: the listener prints "heard 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publisher and a subscriber never meet. ROS matches them by topic name and message type. Get either wrong and nothing flows, with no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interface and read the comment out loud. Hold that thought until after the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3.1-3.3 (the publisher) live on the projector. Students do 3.4-3.7. setup.py changed, so rebuild.
Errors: build error in setup.py (missing comma); No executable found for count_listener (entry point missing or no rebuild); listener silent (topic name typo, or other terminal not sourced).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counter and count_listener in two terminals, inspect from a third. In rqt_graph switch the dropdown to Nodes/Topics (active) and refresh.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 answer: any node on the same domain with the same name and type. The subscriber cannot tell who sent it. That is also why each group has its own ROS_DOMAIN_ID.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the break: plug in the Arduino and check /dev/ttyACM0 on the instructor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 Goal: ros2 topic echo /count shows source: counter.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Int32 is a number. Count is what was counted, by whom, and when.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package that is CMake instead of Python, because the interface code generator runs under CMake. The classes it generates are used from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Errors: Unknown CMake command rosidl_generate_interfaces (missing find_package); xmllint error (member_of_group must be just above &lt;export&gt;); builtin_interfaces/Time unknown (missing DEPENDENCIES or &lt;depend&gt;). Warn them the build takes about 30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Mismatch demo: run the new counter (Count) with the old listener (Int32). The listener receives nothing and there is no error. ros2 topic list -t shows one name with two types. Then fix the listener.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 answer: asap_interfaces and every package that uses it, then re-source. colcon build from the workspace root does both.
Errors: No module named asap_interfaces (not built or not re-sourced); AttributeError data (a Count has count, not data).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5. Goal: ros2 topic list -t shows /temperature and /humidity.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robot software is packages you did not write: drivers, maps, planners. The skill is to plug one in and find out what it does from the outside: topics, types, parameters and its README.
Open https://github.com/praiseorji4/dht11_ros on the projector and walk the README before they clone. rosdep install is skipped: the simulator needs no extra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first on the projector with the real sensor (terminal with ~/demo_ws sourced):
ros2 launch dht11_ros dht11.launch.py mode:=serial port:=/dev/ttyACM0
ros2 topic echo /temperature --field temperature
Warm the sensor with your fingers or breath. Students run the simulator: same topics, same types, so their code works with either.
Hardware fails: switch to the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5.1 /dht11_sim (instructor: /dht11_serial)
5.2 /temperature [sensor_msgs/msg/Temperature], /humidity [sensor_msgs/msg/RelativeHumidity]
5.3 header (stamp, frame_id: dht11), temperature, variance 0.0
5.4 fraction 0.0-1.0: 0.594 = 59.4 %
5.5 average rate 1.000 (real sensor 0.5 Hz)
5.6 base_humidity, frame_id, glitch_rate, rate_hz, target_temperature
Checkpoint: the DHT11 is replaced by a better sensor with a different driver. What changes in your code? Nothing, if the new driver publishes the same topic and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6. Goal: valid: false appears on /env/validated after heating the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sensor reports a temperature. Whether it is safe is a separate decision with its own owner: the validator service. The limit lives in one place, as a parameter.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Too-hot readings are published too, marked valid: false. A too-hot reading is the overheating signal. With the verdict attached, listeners can slow down, stop, or raise an alarm without asking the validator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6.1 together: the .srv file, the two EnvReading verdict fields, the CMake list, rebuild, ros2 interface show asap_interfaces/srv/ValidateReading.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6.2 live and call the service before 6.3: it accepts 40 °C. Then students do 6.3. {temperature: 25.0} returns valid=True.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blocking call() inside a callback waits for an answer that the stuck node itself would have to deliver. call_async plus a done-callback is the pattern.
Errors: humidity 0.62 on the topic (forgot x100); log NOT OK but only valid: true on the topic (6.7 filters); env_validator freezes after one reading (blocking call).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terminals: launch dht11_ros, run validator_server, run env_validator, echo /env/validated. Then heat the sim. From 27 °C it crosses 35 °C in about 16 s. Then raise max_temp to 45.0 and the readings are ok again, with no restart.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Checkpoint answer: it is the overheating signal. Dropping it hides it from every other node; with the verdict attached, listeners can act without asking the validator again.
Extension: an overheat_alarm node that logs an error when valid changes from true to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instructor laptop with ~/demo_ws sourced in every terminal (optionally copy a group's env_monitor into ~/demo_ws/src and rebuild). Set max_temp 1-2 °C above the room reading; a hand raises a DHT11 by only a few degrees.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four patterns, one line each, pointing at the cheat sheet. Actions: written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cheat sheet and handbook. Next session: writing an action server and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1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1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ASAP  ·  ROS 2 JAZZY  ·  PYTHON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Basics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71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counter to a sensor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9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steps  ·  2 hours  ·  keyboards 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321040" y="1097280"/>
            <a:ext cx="3017520" cy="53035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/dht11_sim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829800" y="1627632"/>
            <a:ext cx="914" cy="475488"/>
          </a:xfrm>
          <a:prstGeom prst="line">
            <a:avLst/>
          </a:prstGeom>
          <a:noFill/>
          <a:ln w="25400">
            <a:solidFill>
              <a:srgbClr val="AEBBC7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8321040" y="2103120"/>
            <a:ext cx="3017520" cy="475488"/>
          </a:xfrm>
          <a:prstGeom prst="rect">
            <a:avLst/>
          </a:prstGeom>
          <a:solidFill>
            <a:srgbClr val="22313F"/>
          </a:solidFill>
          <a:ln w="22225">
            <a:solidFill>
              <a:srgbClr val="5FD3B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/temperature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829800" y="2578608"/>
            <a:ext cx="914" cy="475488"/>
          </a:xfrm>
          <a:prstGeom prst="line">
            <a:avLst/>
          </a:prstGeom>
          <a:noFill/>
          <a:ln w="25400">
            <a:solidFill>
              <a:srgbClr val="AEBBC7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8321040" y="3054096"/>
            <a:ext cx="3017520" cy="53035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/env_validator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829800" y="3584448"/>
            <a:ext cx="914" cy="475488"/>
          </a:xfrm>
          <a:prstGeom prst="line">
            <a:avLst/>
          </a:prstGeom>
          <a:noFill/>
          <a:ln w="25400">
            <a:solidFill>
              <a:srgbClr val="AEBBC7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8321040" y="4059936"/>
            <a:ext cx="3017520" cy="475488"/>
          </a:xfrm>
          <a:prstGeom prst="rect">
            <a:avLst/>
          </a:prstGeom>
          <a:solidFill>
            <a:srgbClr val="22313F"/>
          </a:solidFill>
          <a:ln w="22225">
            <a:solidFill>
              <a:srgbClr val="5FD3B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D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/env/validated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1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six steps, one storyline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2240280"/>
            <a:ext cx="9235440" cy="0"/>
          </a:xfrm>
          <a:prstGeom prst="line">
            <a:avLst/>
          </a:prstGeom>
          <a:noFill/>
          <a:ln w="25400">
            <a:solidFill>
              <a:srgbClr val="D5DD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74520"/>
            <a:ext cx="731520" cy="7315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Workspace, package, node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that counts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78608" y="1874520"/>
            <a:ext cx="731520" cy="7315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532888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nodes talk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turtlesim tour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32888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25696" y="1874520"/>
            <a:ext cx="731520" cy="7315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79976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+ subscriber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79976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72784" y="1874520"/>
            <a:ext cx="731520" cy="7315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227064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message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27064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Count.msg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27064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19872" y="1874520"/>
            <a:ext cx="731520" cy="7315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074152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else's package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sensor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74152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966960" y="1874520"/>
            <a:ext cx="731520" cy="73152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921240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service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robot too hot?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92124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1389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Behind? 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~/asap-kit/scripts/catchup.sh N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 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~/asap-kit/scripts/verify.sh 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group's channel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1051560"/>
            <a:ext cx="1049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Wi-Fi, separate domains: you only see your own group's nodes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852160" cy="1143000"/>
          </a:xfrm>
          <a:prstGeom prst="roundRect">
            <a:avLst>
              <a:gd name="adj" fmla="val 6400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75104"/>
            <a:ext cx="5449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~/asap-kit/scripts/group_env.sh 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~/asap-kit/scripts/check_env.sh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85216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712464"/>
            <a:ext cx="5449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| ROS_DOMAIN_ID for your group | 13 = group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GREEN: this laptop is ready.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1828800"/>
            <a:ext cx="1463040" cy="841248"/>
          </a:xfrm>
          <a:prstGeom prst="roundRect">
            <a:avLst>
              <a:gd name="adj" fmla="val 1087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86600" y="1920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267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11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49640" y="1828800"/>
            <a:ext cx="1463040" cy="841248"/>
          </a:xfrm>
          <a:prstGeom prst="roundRect">
            <a:avLst>
              <a:gd name="adj" fmla="val 1087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0" y="1920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267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12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149840" y="1828800"/>
            <a:ext cx="1463040" cy="841248"/>
          </a:xfrm>
          <a:prstGeom prst="roundRect">
            <a:avLst>
              <a:gd name="adj" fmla="val 10870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87000" y="1920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287000" y="2267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2834640"/>
            <a:ext cx="1463040" cy="841248"/>
          </a:xfrm>
          <a:prstGeom prst="roundRect">
            <a:avLst>
              <a:gd name="adj" fmla="val 1087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273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14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49640" y="2834640"/>
            <a:ext cx="1463040" cy="841248"/>
          </a:xfrm>
          <a:prstGeom prst="roundRect">
            <a:avLst>
              <a:gd name="adj" fmla="val 1087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3273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15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149840" y="2834640"/>
            <a:ext cx="1463040" cy="841248"/>
          </a:xfrm>
          <a:prstGeom prst="roundRect">
            <a:avLst>
              <a:gd name="adj" fmla="val 1087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8700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287000" y="3273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16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49440" y="3840480"/>
            <a:ext cx="1463040" cy="841248"/>
          </a:xfrm>
          <a:prstGeom prst="roundRect">
            <a:avLst>
              <a:gd name="adj" fmla="val 1087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8660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42793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17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49640" y="3840480"/>
            <a:ext cx="1463040" cy="841248"/>
          </a:xfrm>
          <a:prstGeom prst="roundRect">
            <a:avLst>
              <a:gd name="adj" fmla="val 1087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42793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18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149840" y="3840480"/>
            <a:ext cx="1463040" cy="841248"/>
          </a:xfrm>
          <a:prstGeom prst="roundRect">
            <a:avLst>
              <a:gd name="adj" fmla="val 1087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8700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9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0287000" y="42793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19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4937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N → ROS_DOMAIN_ID = 10 + 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0116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Workspace, package, node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971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package and write a node that counts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379476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7212B"/>
          </a:solidFill>
          <a:ln w="19050"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1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 ›  package  ›  node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1721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~/ros2_ws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265176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2761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counter_pkg/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2918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package.xml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setup.py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counter_pkg/counter.py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77840" y="4434840"/>
            <a:ext cx="265176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72084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run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160520"/>
            <a:ext cx="2011680" cy="53035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/counter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you build in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of code: name, dependencies, nodes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063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383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running program with one job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is many small programs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1051560"/>
            <a:ext cx="1049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is a node. They talk over topics.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2468880" cy="53035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/camera_driver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2468880" cy="53035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/lidar_driver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176272"/>
            <a:ext cx="1554480" cy="475488"/>
          </a:xfrm>
          <a:prstGeom prst="rect">
            <a:avLst/>
          </a:prstGeom>
          <a:solidFill>
            <a:srgbClr val="FFFFFF"/>
          </a:solidFill>
          <a:ln w="22225"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/image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4187952"/>
            <a:ext cx="1554480" cy="475488"/>
          </a:xfrm>
          <a:prstGeom prst="rect">
            <a:avLst/>
          </a:prstGeom>
          <a:solidFill>
            <a:srgbClr val="FFFFFF"/>
          </a:solidFill>
          <a:ln w="22225"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17520" y="2414016"/>
            <a:ext cx="457200" cy="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17520" y="4425696"/>
            <a:ext cx="457200" cy="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669280" y="3154680"/>
            <a:ext cx="1920240" cy="53035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/planner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0" y="2414016"/>
            <a:ext cx="914400" cy="740664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5029200" y="3685032"/>
            <a:ext cx="914400" cy="740664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8046720" y="3182112"/>
            <a:ext cx="1554480" cy="475488"/>
          </a:xfrm>
          <a:prstGeom prst="rect">
            <a:avLst/>
          </a:prstGeom>
          <a:solidFill>
            <a:srgbClr val="FFFFFF"/>
          </a:solidFill>
          <a:ln w="22225"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/cmd_vel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89520" y="3419856"/>
            <a:ext cx="457200" cy="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0012680" y="3154680"/>
            <a:ext cx="1645920" cy="53035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/motors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601200" y="3419856"/>
            <a:ext cx="411480" cy="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process, one job     </a:t>
            </a:r>
            <a:pPr indent="0" marL="0">
              <a:buNone/>
            </a:pPr>
            <a:r>
              <a:rPr lang="en-US" sz="1600" b="1" dirty="0">
                <a:solidFill>
                  <a:srgbClr val="1E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named stream of messages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workspace and package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92224"/>
            <a:ext cx="535838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~/ros2_ws/src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~/ros2_ws/src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pkg create </a:t>
            </a:r>
            <a:pPr indent="0" marL="0">
              <a:buNone/>
            </a:pPr>
            <a:r>
              <a:rPr lang="en-US" sz="1500" b="1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counter_pkg</a:t>
            </a:r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--build-type ament_python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--license Apache-2.0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--dependencies rclpy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--node-name counter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7091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name first. </a:t>
            </a:r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--dependencies takes every word after it.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645920"/>
            <a:ext cx="4937760" cy="2743200"/>
          </a:xfrm>
          <a:prstGeom prst="roundRect">
            <a:avLst>
              <a:gd name="adj" fmla="val 2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76288" y="1792224"/>
            <a:ext cx="453542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counter_pkg/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package.xml     </a:t>
            </a:r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setup.py        </a:t>
            </a:r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 points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setup.cfg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resource/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counter_pkg/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__init__.py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counter.py  </a:t>
            </a:r>
            <a:pPr indent="0" marL="0">
              <a:buNone/>
            </a:pPr>
            <a:r>
              <a:rPr lang="en-US" sz="135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node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test/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ros2 run finds your code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1051560"/>
            <a:ext cx="1049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in setup.py → entry_points → console_scripts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pPr indent="0" marL="0">
              <a:buNone/>
            </a:pPr>
            <a:r>
              <a:rPr lang="en-US" sz="3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30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counter_pkg.counter</a:t>
            </a:r>
            <a:pPr indent="0" marL="0">
              <a:buNone/>
            </a:pPr>
            <a:r>
              <a:rPr lang="en-US" sz="3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724912"/>
            <a:ext cx="160020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24912"/>
            <a:ext cx="4343400" cy="0"/>
          </a:xfrm>
          <a:prstGeom prst="line">
            <a:avLst/>
          </a:prstGeom>
          <a:noFill/>
          <a:ln w="38100">
            <a:solidFill>
              <a:srgbClr val="1E8C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724912"/>
            <a:ext cx="914400" cy="0"/>
          </a:xfrm>
          <a:prstGeom prst="line">
            <a:avLst/>
          </a:prstGeom>
          <a:noFill/>
          <a:ln w="38100">
            <a:solidFill>
              <a:srgbClr val="D64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200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name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run counter_pkg counter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counter_pkg.counter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counter_pkg/counter.py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4983480"/>
            <a:ext cx="10332720" cy="91440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88720" y="50749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executable found  </a:t>
            </a:r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 this line first, then rebuild.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counter.py: four TODOs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1051560"/>
            <a:ext cx="1049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~/asap-kit/starter/step1/counter.py ~/ros2_ws/src/counter_pkg/counter_pkg/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7040880" cy="4480560"/>
          </a:xfrm>
          <a:prstGeom prst="roundRect">
            <a:avLst>
              <a:gd name="adj" fmla="val 1633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92224"/>
            <a:ext cx="6638544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Counter(Node):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super().__init__('counter')</a:t>
            </a:r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1.1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self.count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self.timer = self.create_timer(1.0,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self.on_timer)</a:t>
            </a:r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1.2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on_timer(self):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self.count += 1</a:t>
            </a:r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# 1.3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self.get_logger().info(f'count = ...')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main(args=None):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rclpy.init(args=args)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= Counter()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rclpy.spin(node)</a:t>
            </a:r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# 1.4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09560" y="1645920"/>
            <a:ext cx="3703320" cy="960120"/>
          </a:xfrm>
          <a:prstGeom prst="roundRect">
            <a:avLst>
              <a:gd name="adj" fmla="val 952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node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'change_me' → 'counter'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09560" y="2788920"/>
            <a:ext cx="3703320" cy="960120"/>
          </a:xfrm>
          <a:prstGeom prst="roundRect">
            <a:avLst>
              <a:gd name="adj" fmla="val 952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9244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on_timer every 1.0 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09560" y="3931920"/>
            <a:ext cx="3703320" cy="960120"/>
          </a:xfrm>
          <a:prstGeom prst="roundRect">
            <a:avLst>
              <a:gd name="adj" fmla="val 952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92440" y="4069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4069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up and log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09560" y="5074920"/>
            <a:ext cx="3703320" cy="960120"/>
          </a:xfrm>
          <a:prstGeom prst="roundRect">
            <a:avLst>
              <a:gd name="adj" fmla="val 952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2440" y="5212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5577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rclpy.spin is the loop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source, run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309360" cy="2103120"/>
          </a:xfrm>
          <a:prstGeom prst="roundRect">
            <a:avLst>
              <a:gd name="adj" fmla="val 3478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17904"/>
            <a:ext cx="59070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~/ros2_ws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colcon build --symlink-install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install/setup.bash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run counter_pkg counter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6309360" cy="1371600"/>
          </a:xfrm>
          <a:prstGeom prst="roundRect">
            <a:avLst>
              <a:gd name="adj" fmla="val 533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4169664"/>
            <a:ext cx="59070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[...] [counter]: count 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[...] [counter]: count =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[...] [counter]: count = 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23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new terminal: source ~/ros2_ws/install/setup.bash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REBUILD?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691640"/>
          <a:ext cx="4389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changed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.py node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8C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restart 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setup.py, package.xml, new 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.msg / .srv / CMakeLists.txt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+ source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7223760" y="3886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--symlink-install links your .py files into install/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inside a running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17904"/>
            <a:ext cx="47183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node list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node info /counter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rqt_graph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3438144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/counter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48640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5875">
            <a:solidFill>
              <a:srgbClr val="D5DD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rqt_graph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2240280"/>
            <a:ext cx="164592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21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0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/counter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718304"/>
            <a:ext cx="47183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run counter_pkg counter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--ros-args -r __node:=counter2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32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two nodes: /counter and /counter2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425196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4453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754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edited counter.py, then setup.py. Which one needed a rebuild?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0116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ways nodes talk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971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tour on turtlesim, from the command line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379476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7212B"/>
          </a:solidFill>
          <a:ln w="19050"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1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nodes talk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842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stream: publish, anyone subscribes, no reply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/turtle1/pose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1965960"/>
            <a:ext cx="731520" cy="411480"/>
          </a:xfrm>
          <a:prstGeom prst="roundRect">
            <a:avLst>
              <a:gd name="adj" fmla="val 64444"/>
            </a:avLst>
          </a:prstGeom>
          <a:solidFill>
            <a:srgbClr val="1E8C78"/>
          </a:solidFill>
          <a:ln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645920"/>
            <a:ext cx="731520" cy="411480"/>
          </a:xfrm>
          <a:prstGeom prst="roundRect">
            <a:avLst>
              <a:gd name="adj" fmla="val 64444"/>
            </a:avLst>
          </a:prstGeom>
          <a:solidFill>
            <a:srgbClr val="1E8C78"/>
          </a:solidFill>
          <a:ln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2331720"/>
            <a:ext cx="731520" cy="411480"/>
          </a:xfrm>
          <a:prstGeom prst="roundRect">
            <a:avLst>
              <a:gd name="adj" fmla="val 64444"/>
            </a:avLst>
          </a:prstGeom>
          <a:solidFill>
            <a:srgbClr val="1E8C78"/>
          </a:solidFill>
          <a:ln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flipV="1">
            <a:off x="4069080" y="1847088"/>
            <a:ext cx="1005840" cy="256032"/>
          </a:xfrm>
          <a:prstGeom prst="line">
            <a:avLst/>
          </a:prstGeom>
          <a:noFill/>
          <a:ln w="25400">
            <a:solidFill>
              <a:srgbClr val="1E8C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69080" y="2240280"/>
            <a:ext cx="1005840" cy="292608"/>
          </a:xfrm>
          <a:prstGeom prst="line">
            <a:avLst/>
          </a:prstGeom>
          <a:noFill/>
          <a:ln w="25400">
            <a:solidFill>
              <a:srgbClr val="1E8C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72200" y="13258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19842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one response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063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/spawn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965960"/>
            <a:ext cx="731520" cy="411480"/>
          </a:xfrm>
          <a:prstGeom prst="roundRect">
            <a:avLst>
              <a:gd name="adj" fmla="val 64444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698480" y="1965960"/>
            <a:ext cx="731520" cy="411480"/>
          </a:xfrm>
          <a:prstGeom prst="roundRect">
            <a:avLst>
              <a:gd name="adj" fmla="val 64444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738360" y="2066544"/>
            <a:ext cx="91440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9738360" y="2286000"/>
            <a:ext cx="91440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dash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969264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6A5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4988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setting, changeable while running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577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background_r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4480560"/>
            <a:ext cx="1097280" cy="411480"/>
          </a:xfrm>
          <a:prstGeom prst="roundRect">
            <a:avLst>
              <a:gd name="adj" fmla="val 64444"/>
            </a:avLst>
          </a:prstGeom>
          <a:solidFill>
            <a:srgbClr val="6A5ACD"/>
          </a:solidFill>
          <a:ln>
            <a:solidFill>
              <a:srgbClr val="6A5AC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520440" y="502920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6A5AC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background_r = 150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84048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4988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job: feedback, result, cancel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5577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/turtle1/rotate_absolute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4480560"/>
            <a:ext cx="731520" cy="411480"/>
          </a:xfrm>
          <a:prstGeom prst="roundRect">
            <a:avLst>
              <a:gd name="adj" fmla="val 64444"/>
            </a:avLst>
          </a:prstGeom>
          <a:solidFill>
            <a:srgbClr val="D64545"/>
          </a:solidFill>
          <a:ln>
            <a:solidFill>
              <a:srgbClr val="D645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698480" y="4480560"/>
            <a:ext cx="731520" cy="411480"/>
          </a:xfrm>
          <a:prstGeom prst="roundRect">
            <a:avLst>
              <a:gd name="adj" fmla="val 64444"/>
            </a:avLst>
          </a:prstGeom>
          <a:solidFill>
            <a:srgbClr val="D64545"/>
          </a:solidFill>
          <a:ln>
            <a:solidFill>
              <a:srgbClr val="D645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738360" y="4581144"/>
            <a:ext cx="914400" cy="0"/>
          </a:xfrm>
          <a:prstGeom prst="line">
            <a:avLst/>
          </a:prstGeom>
          <a:noFill/>
          <a:ln w="25400">
            <a:solidFill>
              <a:srgbClr val="D6454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9738360" y="4800600"/>
            <a:ext cx="914400" cy="0"/>
          </a:xfrm>
          <a:prstGeom prst="line">
            <a:avLst/>
          </a:prstGeom>
          <a:noFill/>
          <a:ln w="25400">
            <a:solidFill>
              <a:srgbClr val="D64545"/>
            </a:solidFill>
            <a:prstDash val="sysDot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9692640" y="4206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464040" y="4937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feedback… result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turtlesim tour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26464"/>
            <a:ext cx="106619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run turtlesim turtlesim_node</a:t>
            </a:r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terminal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run turtlesim turtle_teleop_key</a:t>
            </a:r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terminal 2: arrow keys drive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42032"/>
            <a:ext cx="1234440" cy="475488"/>
          </a:xfrm>
          <a:prstGeom prst="roundRect">
            <a:avLst>
              <a:gd name="adj" fmla="val 50000"/>
            </a:avLst>
          </a:prstGeom>
          <a:solidFill>
            <a:srgbClr val="1E8C78"/>
          </a:solidFill>
          <a:ln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65960" y="2377440"/>
            <a:ext cx="9646920" cy="822960"/>
          </a:xfrm>
          <a:prstGeom prst="roundRect">
            <a:avLst>
              <a:gd name="adj" fmla="val 8889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67128" y="2523744"/>
            <a:ext cx="9244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list -t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echo /turtle1/pose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9584"/>
            <a:ext cx="1234440" cy="475488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65960" y="3364992"/>
            <a:ext cx="9646920" cy="822960"/>
          </a:xfrm>
          <a:prstGeom prst="roundRect">
            <a:avLst>
              <a:gd name="adj" fmla="val 8889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67128" y="3511296"/>
            <a:ext cx="9244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service list -t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service call /spawn turtlesim/srv/Spawn "{x: 2.0, y: 2.0, theta: 0.0, name: turtle2}"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17136"/>
            <a:ext cx="1234440" cy="475488"/>
          </a:xfrm>
          <a:prstGeom prst="roundRect">
            <a:avLst>
              <a:gd name="adj" fmla="val 50000"/>
            </a:avLst>
          </a:prstGeom>
          <a:solidFill>
            <a:srgbClr val="6A5ACD"/>
          </a:solidFill>
          <a:ln>
            <a:solidFill>
              <a:srgbClr val="6A5AC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65960" y="4352544"/>
            <a:ext cx="9646920" cy="822960"/>
          </a:xfrm>
          <a:prstGeom prst="roundRect">
            <a:avLst>
              <a:gd name="adj" fmla="val 8889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67128" y="4498848"/>
            <a:ext cx="9244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param list /turtlesim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param set /turtlesim background_r 255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04688"/>
            <a:ext cx="1234440" cy="47548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solidFill>
              <a:srgbClr val="D645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65960" y="5340096"/>
            <a:ext cx="9646920" cy="822960"/>
          </a:xfrm>
          <a:prstGeom prst="roundRect">
            <a:avLst>
              <a:gd name="adj" fmla="val 8889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67128" y="5486400"/>
            <a:ext cx="9244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action send_goal --feedback /turtle1/rotate_absolute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turtlesim/action/RotateAbsolute "{theta: 1.57}"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answer at the terminal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486400"/>
                <a:gridCol w="4846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node sends commands to turtlesim, on which topic?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rqt_graph, ros2 node list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/turtle1/pose? Its fields?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ros2 topic list -t, ros2 interface show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is the turtle now?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ros2 topic echo /turtle1/pose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in a circle without the keyboard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ros2 topic pub -r 1 /turtle1/cmd_vel ...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turtle2 at (2, 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ros2 service call /spawn ...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/spawn take and return?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ros2 interface show turtlesim/srv/Spawn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the background 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ros2 param set ... then /clear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 to face up, watch the progress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ros2 action send_goal --feedback ...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commands: STUDENT_HANDBOOK.md, step 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which pattern?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turtle's position, 30 times a second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737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turtle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51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023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background colour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937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023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180° and know when it is done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937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pattern? Answers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turtle's position, 30 times a second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737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turtle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51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023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background colour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937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6A5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023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180° and know when it is done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937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0116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971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publishes; a listener subscribes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379476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7212B"/>
          </a:solidFill>
          <a:ln w="19050"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1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→ topic → subscriber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2377440" cy="53035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/counter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0" y="2368296"/>
            <a:ext cx="1280160" cy="0"/>
          </a:xfrm>
          <a:prstGeom prst="line">
            <a:avLst/>
          </a:prstGeom>
          <a:noFill/>
          <a:ln w="31750">
            <a:solidFill>
              <a:srgbClr val="17212B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480560" y="2011680"/>
            <a:ext cx="3108960" cy="713232"/>
          </a:xfrm>
          <a:prstGeom prst="rect">
            <a:avLst/>
          </a:prstGeom>
          <a:solidFill>
            <a:srgbClr val="FFFFFF"/>
          </a:solidFill>
          <a:ln w="22225"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/count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std_msgs/msg/Int32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2368296"/>
            <a:ext cx="1280160" cy="0"/>
          </a:xfrm>
          <a:prstGeom prst="line">
            <a:avLst/>
          </a:prstGeom>
          <a:noFill/>
          <a:ln w="31750">
            <a:solidFill>
              <a:srgbClr val="17212B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8869680" y="2103120"/>
            <a:ext cx="2651760" cy="53035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/count_listener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2697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connect when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343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TYPE match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knows the other exists.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37490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4343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silence, no error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 ros2 topic list -t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has a type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766560" cy="640080"/>
          </a:xfrm>
          <a:prstGeom prst="roundRect">
            <a:avLst>
              <a:gd name="adj" fmla="val 11429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17904"/>
            <a:ext cx="6364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interface show std_msgs/msg/Int32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6766560" cy="2560320"/>
          </a:xfrm>
          <a:prstGeom prst="roundRect">
            <a:avLst>
              <a:gd name="adj" fmla="val 285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340864"/>
            <a:ext cx="636422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was originally provided as an example message.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 is deprecated as of Foxy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 is recommended to create your own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semantically meaningful message.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0" y="137160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16002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your own semantically meaningful message”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that is step 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now: one field, data, an int32.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TODO 3.1 – 3.7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1051560"/>
            <a:ext cx="1049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~/asap-kit/starter/step3/*.py ~/ros2_ws/src/counter_pkg/counter_pkg/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5836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92024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 std_msgs.msg import Int32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create_publisher(Int32, 'count', 10)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msg = Int32(); msg.data = ...; publish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count_listener.py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create_subscription(Int32, 'count', ...)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count_listener.py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 msg.data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second entry point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package.xml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&lt;depend&gt;std_msgs&lt;/depend&gt;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6092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SETUP.PY  (3.6)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60920" y="1965960"/>
            <a:ext cx="4251960" cy="1600200"/>
          </a:xfrm>
          <a:prstGeom prst="roundRect">
            <a:avLst>
              <a:gd name="adj" fmla="val 4571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62088" y="2112264"/>
            <a:ext cx="38496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'console_scripts':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'counter = counter_pkg.counter:main'</a:t>
            </a:r>
            <a:pPr indent="0" marL="0">
              <a:buNone/>
            </a:pPr>
            <a:r>
              <a:rPr lang="en-US" sz="1150" b="1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'count_listener = ...',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37033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the </a:t>
            </a:r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entries.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60920" y="4343400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62088" y="4489704"/>
            <a:ext cx="38496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~/ros2_ws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colcon build --symlink-install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install/setup.bash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topic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40680" cy="548640"/>
          </a:xfrm>
          <a:prstGeom prst="roundRect">
            <a:avLst>
              <a:gd name="adj" fmla="val 13333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72184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list -t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112264"/>
            <a:ext cx="5038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/count [std_msgs/msg/Int32]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/parameter_events [...]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/rosout [...]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5440680" cy="548640"/>
          </a:xfrm>
          <a:prstGeom prst="roundRect">
            <a:avLst>
              <a:gd name="adj" fmla="val 13333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3368" y="1472184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echo /count --once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2112264"/>
            <a:ext cx="5038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7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440680" cy="548640"/>
          </a:xfrm>
          <a:prstGeom prst="roundRect">
            <a:avLst>
              <a:gd name="adj" fmla="val 13333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621024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hz /count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261104"/>
            <a:ext cx="5038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rate: 1.000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min: 0.997s max: 1.002s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474720"/>
            <a:ext cx="5440680" cy="548640"/>
          </a:xfrm>
          <a:prstGeom prst="roundRect">
            <a:avLst>
              <a:gd name="adj" fmla="val 13333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3368" y="3621024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info /count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41148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73368" y="4261104"/>
            <a:ext cx="5038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std_msgs/msg/Int32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Publisher count: 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 count: 1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rqt_graph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dropdown </a:t>
            </a:r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Nodes/Topics (active)</a:t>
            </a:r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/counter → /count → /count_listener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 to be the counter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583680" cy="868680"/>
          </a:xfrm>
          <a:prstGeom prst="roundRect">
            <a:avLst>
              <a:gd name="adj" fmla="val 8421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17904"/>
            <a:ext cx="61813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pub --once /count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std_msgs/msg/Int32 "{data: 999}"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935224"/>
            <a:ext cx="6181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[count_listener]: heard 3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[count_listener]: heard 999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[count_listener]: heard 4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try: a second listener, then ros2 topic info /count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0" y="137160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187452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 came from the command line, and the listener printed it. Who can publish on a topic?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your own message type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1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0116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message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971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Int32 with Count: what, who, when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379476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7212B"/>
          </a:solidFill>
          <a:ln w="19050"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1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vs a meaningful message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846320" cy="3566160"/>
          </a:xfrm>
          <a:prstGeom prst="roundRect">
            <a:avLst>
              <a:gd name="adj" fmla="val 256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std_msgs/msg/Int32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 data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577840" y="3246120"/>
            <a:ext cx="914400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675120" y="1463040"/>
            <a:ext cx="4937760" cy="3566160"/>
          </a:xfrm>
          <a:prstGeom prst="roundRect">
            <a:avLst>
              <a:gd name="adj" fmla="val 2564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asap_interfaces/msg/Count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377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int64 count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source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builtin_interfaces/Time stamp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what, who, when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the contract between nodes, and often between teams.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 package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1051560"/>
            <a:ext cx="1049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ament_cmake: the interface code generator runs under CMake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2377440" cy="640080"/>
          </a:xfrm>
          <a:prstGeom prst="rect">
            <a:avLst/>
          </a:prstGeom>
          <a:solidFill>
            <a:srgbClr val="FFFFFF"/>
          </a:solidFill>
          <a:ln w="22225"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msg/Count.msg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2148840"/>
            <a:ext cx="1005840" cy="0"/>
          </a:xfrm>
          <a:prstGeom prst="line">
            <a:avLst/>
          </a:prstGeom>
          <a:noFill/>
          <a:ln w="31750">
            <a:solidFill>
              <a:srgbClr val="17212B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83464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colcon build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78308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F1F4F7"/>
          </a:solidFill>
          <a:ln>
            <a:solidFill>
              <a:srgbClr val="D5DDE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asap_interfaces.msg.Count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(Python + C++)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2148840"/>
            <a:ext cx="1005840" cy="0"/>
          </a:xfrm>
          <a:prstGeom prst="line">
            <a:avLst/>
          </a:prstGeom>
          <a:noFill/>
          <a:ln w="31750">
            <a:solidFill>
              <a:srgbClr val="17212B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8229600" y="1883664"/>
            <a:ext cx="3383280" cy="566928"/>
          </a:xfrm>
          <a:prstGeom prst="roundRect">
            <a:avLst>
              <a:gd name="adj" fmla="val 46774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counter_pkg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&lt;depend&gt;asap_interfaces&lt;/depend&gt;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712464"/>
            <a:ext cx="10661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~/ros2_ws/src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pkg create asap_interfaces --build-type ament_cmake --license Apache-2.0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asap_interfaces &amp;&amp; rm -r include src &amp;&amp; mkdir msg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~/asap-kit/starter/step4/Count.msg msg/        # TODO 4.1: write the three fields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4.2 and 4.3: wire up the generator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CMakeLists.txt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669280" cy="2240280"/>
          </a:xfrm>
          <a:prstGeom prst="roundRect">
            <a:avLst>
              <a:gd name="adj" fmla="val 3265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92224"/>
            <a:ext cx="526694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under find_package(ament_cmake REQUIRED)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find_package(builtin_interfaces REQUIRED)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find_package(rosidl_default_generators REQUIRED)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rosidl_generate_interfaces(${PROJECT_NAME}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"msg/Count.msg"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DEPENDENCIES builtin_interfaces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package.xml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1645920"/>
            <a:ext cx="5120640" cy="2240280"/>
          </a:xfrm>
          <a:prstGeom prst="roundRect">
            <a:avLst>
              <a:gd name="adj" fmla="val 3265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93408" y="1792224"/>
            <a:ext cx="47183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under &lt;buildtool_depend&gt;ament_cmake --&gt;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&lt;buildtool_depend&gt;rosidl_default_generators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&lt;/buildtool_depend&gt;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&lt;depend&gt;builtin_interfaces&lt;/depend&gt;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&lt;exec_depend&gt;rosidl_default_runtime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&lt;/exec_depend&gt;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406908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41605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above &lt;export&gt;: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&lt;member_of_group&gt;rosidl_interface_packages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&lt;/member_of_group&gt;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669280" cy="1188720"/>
          </a:xfrm>
          <a:prstGeom prst="roundRect">
            <a:avLst>
              <a:gd name="adj" fmla="val 6154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215384"/>
            <a:ext cx="5266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~/ros2_ws &amp;&amp; colcon build --symlink-install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interface show asap_interfaces/msg/Count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40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interface build takes about 30 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it: TODO 4.4 – 4.6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1051560"/>
            <a:ext cx="1049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~/asap-kit/starter/step4/*.py ~/ros2_ws/src/counter_pkg/counter_pkg/</a:t>
            </a:r>
            <a:endParaRPr lang="en-US" sz="17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4008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920240"/>
                <a:gridCol w="3794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Count: count, source, stamp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count_listener.py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 with Count; log count, 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package.xml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&lt;depend&gt;asap_interfaces&lt;/depend&gt;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40480"/>
            <a:ext cx="6400800" cy="1051560"/>
          </a:xfrm>
          <a:prstGeom prst="roundRect">
            <a:avLst>
              <a:gd name="adj" fmla="val 6957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3986784"/>
            <a:ext cx="59984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msg.source = self.get_name()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msg.stamp = self.get_clock().now().to_msg()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0" y="1645920"/>
            <a:ext cx="4297680" cy="3931920"/>
          </a:xfrm>
          <a:prstGeom prst="roundRect">
            <a:avLst>
              <a:gd name="adj" fmla="val 2326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new counter, old listener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89520" y="22860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90688" y="2432304"/>
            <a:ext cx="33467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ros2 topic list -t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/count [asap_interfaces/msg/Count,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std_msgs/msg/Int32]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39319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name, two types: nothing flows, no error. Then do 4.5.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17904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echo /count --once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157984"/>
            <a:ext cx="50840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count: 6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counter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stamp: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sec: 1790210130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nanosec: 733066021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4809744"/>
            <a:ext cx="5084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[count_listener]: heard 1 from counter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[count_listener]: heard 2 from counter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8745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added a field to Count.msg. What needs rebuilding?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0116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else's package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971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DHT11 temperature and humidity sensor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379476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7212B"/>
          </a:solidFill>
          <a:ln w="19050"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1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package you did not write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1051560"/>
            <a:ext cx="1049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what it does from the outside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code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63240" y="2331720"/>
            <a:ext cx="274320" cy="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6459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rosdep install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dependencies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97880" y="2331720"/>
            <a:ext cx="274320" cy="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0" y="16459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colcon build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732520" y="2331720"/>
            <a:ext cx="274320" cy="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52560" y="16459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8116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types, params, README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1188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3758184"/>
            <a:ext cx="10661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~/ros2_ws/src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</a:t>
            </a:r>
            <a:pPr indent="0" marL="0">
              <a:buNone/>
            </a:pPr>
            <a:r>
              <a:rPr lang="en-US" sz="1400" b="1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https://github.com/praiseorji4/dht11_ros.git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~/ros2_ws &amp;&amp; colcon build --symlink-install &amp;&amp; source install/setup.bash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launch dht11_ros dht11.launch.py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internet?  </a:t>
            </a:r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 ~/asap-kit/vendor/dht11_ros ~/ros2_ws/src/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sensor or simulator: same topics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1828800"/>
            <a:ext cx="274320" cy="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11680" y="141732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1417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1554480" cy="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29184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serial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T:24.0,H:55.0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563624"/>
            <a:ext cx="2194560" cy="53035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/dht11_serial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00984"/>
            <a:ext cx="2194560" cy="53035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/dht11_sim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1737360"/>
            <a:ext cx="3566160" cy="475488"/>
          </a:xfrm>
          <a:prstGeom prst="rect">
            <a:avLst/>
          </a:prstGeom>
          <a:solidFill>
            <a:srgbClr val="FFFFFF"/>
          </a:solidFill>
          <a:ln w="22225"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/temperature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sensor_msgs/msg/Temperature  °C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017520"/>
            <a:ext cx="3566160" cy="475488"/>
          </a:xfrm>
          <a:prstGeom prst="rect">
            <a:avLst/>
          </a:prstGeom>
          <a:solidFill>
            <a:srgbClr val="FFFFFF"/>
          </a:solidFill>
          <a:ln w="22225"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/humidity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sensor_msgs/msg/RelativeHumidity  0-1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1828800"/>
            <a:ext cx="914400" cy="146304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40880" y="1920240"/>
            <a:ext cx="914400" cy="128016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7040880" y="2103120"/>
            <a:ext cx="914400" cy="1417320"/>
          </a:xfrm>
          <a:prstGeom prst="line">
            <a:avLst/>
          </a:prstGeom>
          <a:noFill/>
          <a:ln w="25400">
            <a:solidFill>
              <a:srgbClr val="5B6B7A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7040880" y="3291840"/>
            <a:ext cx="914400" cy="320040"/>
          </a:xfrm>
          <a:prstGeom prst="line">
            <a:avLst/>
          </a:prstGeom>
          <a:noFill/>
          <a:ln w="25400">
            <a:solidFill>
              <a:srgbClr val="5B6B7A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4718304"/>
            <a:ext cx="106619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launch dht11_ros dht11.launch.py</a:t>
            </a:r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# simulated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launch dht11_ros dht11.launch.py mode:=serial port:=/dev/ttyACM0</a:t>
            </a:r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answer at the terminal</a:t>
            </a:r>
            <a:endParaRPr lang="en-US" sz="3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1323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node did the launch start?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ros2 node list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Topics and types?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ros2 topic list -t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temperature message?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ros2 topic echo /temperature --once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of humidity?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ros2 interface show sensor_msgs/msg/RelativeHumidity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often?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ros2 topic hz /temperature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can you tune?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ros2 param list /dht11_sim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2801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relative_humidity: 0.594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59.4 %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6576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defines humidity as a fraction, 0.0 to 1.0. Read the interface.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0116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robot too hot?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2971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validation service with a threshold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379476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7212B"/>
          </a:solidFill>
          <a:ln w="19050"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1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DHT11 measures the robot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1051560"/>
            <a:ext cx="10497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gets a verdict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max_temp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 °C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parameter: change it while the robot runs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55448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is NaN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1691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valid: false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94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reading (the sensor did not answer)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92608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&gt; max_temp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valid: false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566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40.0 C is above max_temp 35.0 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4297680"/>
            <a:ext cx="5669280" cy="1188720"/>
          </a:xfrm>
          <a:prstGeom prst="roundRect">
            <a:avLst>
              <a:gd name="adj" fmla="val 7692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4434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valid: true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937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reason: ''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2103120" cy="53035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/dht11_sim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737360"/>
            <a:ext cx="2194560" cy="475488"/>
          </a:xfrm>
          <a:prstGeom prst="rect">
            <a:avLst/>
          </a:prstGeom>
          <a:solidFill>
            <a:srgbClr val="FFFFFF"/>
          </a:solidFill>
          <a:ln w="22225"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/humidity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108960"/>
            <a:ext cx="2194560" cy="475488"/>
          </a:xfrm>
          <a:prstGeom prst="rect">
            <a:avLst/>
          </a:prstGeom>
          <a:solidFill>
            <a:srgbClr val="FFFFFF"/>
          </a:solidFill>
          <a:ln w="22225"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/temperature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flipV="1">
            <a:off x="2651760" y="1975104"/>
            <a:ext cx="457200" cy="539496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51760" y="2788920"/>
            <a:ext cx="457200" cy="557784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852160" y="2377440"/>
            <a:ext cx="2377440" cy="530352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/env_validator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303520" y="1975104"/>
            <a:ext cx="731520" cy="402336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5303520" y="2907792"/>
            <a:ext cx="731520" cy="438912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9052560" y="100584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6A5ACD"/>
          </a:solidFill>
          <a:ln>
            <a:solidFill>
              <a:srgbClr val="6A5AC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/validator_server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 flipV="1">
            <a:off x="7680960" y="1554480"/>
            <a:ext cx="1463040" cy="822960"/>
          </a:xfrm>
          <a:prstGeom prst="line">
            <a:avLst/>
          </a:prstGeom>
          <a:noFill/>
          <a:ln w="25400">
            <a:solidFill>
              <a:srgbClr val="6A5AC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8046720" y="1554480"/>
            <a:ext cx="1463040" cy="822960"/>
          </a:xfrm>
          <a:prstGeom prst="line">
            <a:avLst/>
          </a:prstGeom>
          <a:noFill/>
          <a:ln w="25400">
            <a:solidFill>
              <a:srgbClr val="6A5ACD"/>
            </a:solidFill>
            <a:prstDash val="dash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49224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request: temperature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valid, reason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685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max_temp = 35.0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2642616"/>
            <a:ext cx="822960" cy="923544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9052560" y="3383280"/>
            <a:ext cx="2560320" cy="475488"/>
          </a:xfrm>
          <a:prstGeom prst="rect">
            <a:avLst/>
          </a:prstGeom>
          <a:solidFill>
            <a:srgbClr val="FFFFFF"/>
          </a:solidFill>
          <a:ln w="22225"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/env/validated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52560" y="402336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53728" y="4169664"/>
            <a:ext cx="215798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stamp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humidity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46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is published, with its verdict. Listeners decide what to do.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6.1: the interfaces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srv/ValidateReading.srv  (6.1a)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572000" cy="2103120"/>
          </a:xfrm>
          <a:prstGeom prst="roundRect">
            <a:avLst>
              <a:gd name="adj" fmla="val 3478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92224"/>
            <a:ext cx="41696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 temperature</a:t>
            </a:r>
            <a:pPr indent="0" marL="0">
              <a:buNone/>
            </a:pPr>
            <a:r>
              <a:rPr lang="en-US" sz="145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request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valid</a:t>
            </a:r>
            <a:pPr indent="0" marL="0">
              <a:buNone/>
            </a:pPr>
            <a:r>
              <a:rPr lang="en-US" sz="1450" dirty="0">
                <a:solidFill>
                  <a:srgbClr val="8FA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response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reason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msg/EnvReading.msg  (6.1b)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645920"/>
            <a:ext cx="6126480" cy="2103120"/>
          </a:xfrm>
          <a:prstGeom prst="roundRect">
            <a:avLst>
              <a:gd name="adj" fmla="val 3478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87568" y="1792224"/>
            <a:ext cx="572414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builtin_interfaces/Time stamp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 temperature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 humidity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valid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reason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CMakeLists.txt  (6.1c)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4572000" cy="1737360"/>
          </a:xfrm>
          <a:prstGeom prst="roundRect">
            <a:avLst>
              <a:gd name="adj" fmla="val 4211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4443984"/>
            <a:ext cx="416966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rosidl_generate_interfaces(${PROJECT_NAME}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"msg/Count.msg"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"msg/EnvReading.msg"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"srv/ValidateReading.srv"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DEPENDENCIES builtin_interfaces)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0" y="4297680"/>
            <a:ext cx="6126480" cy="1737360"/>
          </a:xfrm>
          <a:prstGeom prst="roundRect">
            <a:avLst>
              <a:gd name="adj" fmla="val 4211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87568" y="4443984"/>
            <a:ext cx="57241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~/ros2_ws/src/asap_interfaces &amp;&amp; mkdir srv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~/asap-kit/starter/step6/ValidateReading.srv srv/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~/asap-kit/starter/step6/EnvReading.msg msg/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server: TODO 6.2 – 6.3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72184"/>
            <a:ext cx="10661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pkg create env_monitor --build-type ament_python --license Apache-2.0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--dependencies rclpy sensor_msgs asap_interfaces --node-name validator_server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~/asap-kit/starter/step6/*.py env_monitor/env_monitor/</a:t>
            </a:r>
            <a:endParaRPr lang="en-US" sz="13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64008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5715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create_service(ValidateReading, 'validate_reading', ...)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NaN → False · &gt; max_temp → False + reason · else 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7200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4718304"/>
            <a:ext cx="59984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service call /validate_reading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asap_interfaces/srv/ValidateReading "{temperature: 40.0}"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6.2, BEFORE 6.3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223760" y="306324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24928" y="3209544"/>
            <a:ext cx="3986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valid=True</a:t>
            </a:r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reason=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'not checked yet: TODO(6.3)'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6.3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23760" y="4572000"/>
            <a:ext cx="4389120" cy="109728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24928" y="4718304"/>
            <a:ext cx="39867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valid=False</a:t>
            </a:r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reason=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'temperature 40.0 C is above max_temp 35.0 C'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client: TODO 6.4 – 6.8</a:t>
            </a:r>
            <a:endParaRPr lang="en-US" sz="3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4980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766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subscribe 'temperature' (Temperature), 'humidity' (RelativeHumidity)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humidity_pct = relative_humidity * 100.0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create_client(ValidateReading, 'validate_reading'); wait_for_service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call_async(request); add_done_callback(...)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copy valid + reason into the reading; publish EVERY reading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setup.py: 'env_validator = env_monitor.env_validator:main',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28016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4108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callback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1920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call_async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the blocking </a:t>
            </a:r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call()</a:t>
            </a:r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waits for an answer that can never arrive.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and source after 6.8.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the robot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6766560" cy="640080"/>
          </a:xfrm>
          <a:prstGeom prst="roundRect">
            <a:avLst>
              <a:gd name="adj" fmla="val 11429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5495544"/>
            <a:ext cx="6364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param set /dht11_sim target_temperature 40.0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ENV_VALIDATOR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164592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82128" y="1792224"/>
            <a:ext cx="35295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      33.9 C  62.1 %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      34.6 C  62.7 %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OK   temperature 35.2 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is above max_temp 35.0 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OK   temperature 35.5 C ...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LIMIT, LIVE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80960" y="429768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82128" y="4443984"/>
            <a:ext cx="3529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param set /validator_server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max_temp 45.0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5349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Decimals only: 45.0, not 45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66928" cy="566928"/>
          </a:xfrm>
          <a:prstGeom prst="ellipse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298448" y="365760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topic echo /env/validated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48463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2066544"/>
            <a:ext cx="444398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temperature: 26.9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humidity: 62.2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8C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valid: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reason: ''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48463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93408" y="2066544"/>
            <a:ext cx="444398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temperature: 40.1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humidity: 64.0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valid: false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reason: temperature 40.1 C 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above max_temp 35.0 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1E0"/>
          </a:solidFill>
          <a:ln w="12700">
            <a:solidFill>
              <a:srgbClr val="FFF1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138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reading is valid: false. Why publish it instead of dropping it?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pipeline, on the real sensor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0698480" cy="2011680"/>
          </a:xfrm>
          <a:prstGeom prst="roundRect">
            <a:avLst>
              <a:gd name="adj" fmla="val 3636"/>
            </a:avLst>
          </a:prstGeom>
          <a:solidFill>
            <a:srgbClr val="22313F"/>
          </a:solidFill>
          <a:ln w="12700">
            <a:solidFill>
              <a:srgbClr val="2231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792224"/>
            <a:ext cx="102961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launch dht11_ros dht11.launch.py mode:=serial port:=/dev/ttyACM0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run env_monitor validator_server --ros-args -p max_temp:=</a:t>
            </a:r>
            <a:pPr indent="0" marL="0">
              <a:buNone/>
            </a:pPr>
            <a:r>
              <a:rPr lang="en-US" sz="1600" b="1" dirty="0">
                <a:solidFill>
                  <a:srgbClr val="FFB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run env_monitor env_validator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echo /env/validated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sensor  →  valid: false.  Let go  →  valid: true.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nodes you wrote against the simulator, unchanged.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1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nodes talk: today's examples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18488"/>
            <a:ext cx="1645920" cy="512064"/>
          </a:xfrm>
          <a:prstGeom prst="roundRect">
            <a:avLst>
              <a:gd name="adj" fmla="val 50000"/>
            </a:avLst>
          </a:prstGeom>
          <a:solidFill>
            <a:srgbClr val="1E8C78"/>
          </a:solidFill>
          <a:ln>
            <a:solidFill>
              <a:srgbClr val="1E8C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645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/count   /temperature   /env/validated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1645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3, 5, 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15768"/>
            <a:ext cx="1645920" cy="51206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solidFill>
              <a:srgbClr val="F28C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743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/validate_reading   /spawn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2, 6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813048"/>
            <a:ext cx="1645920" cy="512064"/>
          </a:xfrm>
          <a:prstGeom prst="roundRect">
            <a:avLst>
              <a:gd name="adj" fmla="val 50000"/>
            </a:avLst>
          </a:prstGeom>
          <a:solidFill>
            <a:srgbClr val="6A5ACD"/>
          </a:solidFill>
          <a:ln>
            <a:solidFill>
              <a:srgbClr val="6A5AC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8404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max_temp   target_temperature   background_r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2, 5, 6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910328"/>
            <a:ext cx="1645920" cy="512064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solidFill>
              <a:srgbClr val="D645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4937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/turtle1/rotate_absolute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4937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write one next time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B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CHEATSHEET.md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577840" y="20116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from today, one page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80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STUDENT_HANDBOOK.md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28803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TODOs, expected output, fixes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49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verify.sh 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37490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step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617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catchup.sh 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4617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B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finished step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time: actions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1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 2 Basics: from a counter to a sensor</dc:title>
  <dc:subject>PptxGenJS Presentation</dc:subject>
  <dc:creator>PptxGenJS</dc:creator>
  <cp:lastModifiedBy>PptxGenJS</cp:lastModifiedBy>
  <cp:revision>1</cp:revision>
  <dcterms:created xsi:type="dcterms:W3CDTF">2026-09-24T02:49:18Z</dcterms:created>
  <dcterms:modified xsi:type="dcterms:W3CDTF">2026-09-24T02:49:18Z</dcterms:modified>
</cp:coreProperties>
</file>